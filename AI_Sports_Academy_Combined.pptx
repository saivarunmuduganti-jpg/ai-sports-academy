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25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0.xml"/><Relationship Id="rId3" Type="http://schemas.openxmlformats.org/officeDocument/2006/relationships/slide" Target="slides/slide31.xml"/><Relationship Id="rId4" Type="http://schemas.openxmlformats.org/officeDocument/2006/relationships/slide" Target="slides/slide32.xml"/><Relationship Id="rId5" Type="http://schemas.openxmlformats.org/officeDocument/2006/relationships/slide" Target="slides/slide33.xml"/><Relationship Id="rId6" Type="http://schemas.openxmlformats.org/officeDocument/2006/relationships/slide" Target="slides/slide34.xml"/><Relationship Id="rId7" Type="http://schemas.openxmlformats.org/officeDocument/2006/relationships/slide" Target="slides/slide35.xml"/><Relationship Id="rId8" Type="http://schemas.openxmlformats.org/officeDocument/2006/relationships/slide" Target="slides/slide36.xml"/><Relationship Id="rId9" Type="http://schemas.openxmlformats.org/officeDocument/2006/relationships/slide" Target="slides/slide37.xml"/><Relationship Id="rId10" Type="http://schemas.openxmlformats.org/officeDocument/2006/relationships/slide" Target="slides/slide38.xml"/><Relationship Id="rId11" Type="http://schemas.openxmlformats.org/officeDocument/2006/relationships/slide" Target="slides/slide39.xml"/><Relationship Id="rId12" Type="http://schemas.openxmlformats.org/officeDocument/2006/relationships/slide" Target="slides/slide4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41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accent5"/>
                </a:solidFill>
              </a:rPr>
              <a:t>PBL REVIEW 4  ·  RESULTS &amp; ANALYSIS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-548640"/>
            <a:ext cx="2743200" cy="2743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 UNIVERSITY, HYDERABAD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ACADEMY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Platform for Sports Academy Administration and Performance Analytics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0840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Vardhan Reddy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3218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2510030153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1960" y="50840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 Sai Chaitanya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51960" y="532180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2510030096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614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Sai Varun Reddy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58521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2510030021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5614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Anshith Reddy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51960" y="585216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2510030327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6144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6382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2510030380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0" y="4736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974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11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5358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5596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Rafeeq Mohammed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59801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·  DEPARTMENT  ·  AY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6199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DBE &amp; DSD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000" dirty="0"/>
          </a:p>
        </p:txBody>
      </p:sp>
      <p:pic>
        <p:nvPicPr>
          <p:cNvPr id="25" name="Image 0" descr="/home/claude/ppt/kl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365760"/>
            <a:ext cx="1965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Problem?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sports academies still manage player registrations, attendance, schedules, fees, and performance records manually or with disconnected software.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331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player record management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7706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administrative work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2095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tracking player progress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21608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36484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performance analysis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40873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communication among coaches, players, and parents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Manual management reduces operational efficiency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583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Coaches spend more time on paperwork than training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87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Player development is difficult without proper analytics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9560" y="137160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THIS PROBLEM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0574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91540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Academies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28346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91540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915400" y="3611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0" y="43891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2296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91540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0" y="516636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8915400" y="5166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Administrators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NEED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11880" cy="4846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1C4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Needed?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" y="3035808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sports academy operations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365760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coaching efficiency using AI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4279392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187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player performance insights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" y="4901184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05840" y="48097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attendance, fee, and event management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16552" y="1463040"/>
            <a:ext cx="3611880" cy="4846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1C4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72584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7258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72584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Benefit?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72584" y="3035808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73752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Academies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72584" y="3657600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73752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72584" y="4279392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73752" y="4187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72584" y="4901184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873752" y="48097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72584" y="5522976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73752" y="5431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Organizations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84464" y="1463040"/>
            <a:ext cx="3611880" cy="48463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1C4D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540496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54049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540496" y="237744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Societal &amp; Industry Impact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0496" y="3035808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741664" y="29443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digital transformation in sports management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0496" y="3657600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741664" y="3566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data-driven coaching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0496" y="4279392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741664" y="41879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athlete development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40496" y="4901184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741664" y="480974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administrative workload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40496" y="5522976"/>
            <a:ext cx="91440" cy="9144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741664" y="54315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transparency between academy and parents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Aims to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892808"/>
            <a:ext cx="512064" cy="512064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92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player registration and academy management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670048"/>
            <a:ext cx="512064" cy="512064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508760" y="26060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attendance, schedules, and fee payments digitally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3447288"/>
            <a:ext cx="512064" cy="512064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17" name="Text 15"/>
          <p:cNvSpPr/>
          <p:nvPr/>
        </p:nvSpPr>
        <p:spPr>
          <a:xfrm>
            <a:off x="1508760" y="33832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player performance using AI-based insights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4224528"/>
            <a:ext cx="512064" cy="512064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508760" y="41605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player strengths and improvement areas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5001768"/>
            <a:ext cx="512064" cy="512064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44" dirty="0"/>
          </a:p>
        </p:txBody>
      </p:sp>
      <p:sp>
        <p:nvSpPr>
          <p:cNvPr id="25" name="Text 23"/>
          <p:cNvSpPr/>
          <p:nvPr/>
        </p:nvSpPr>
        <p:spPr>
          <a:xfrm>
            <a:off x="1508760" y="49377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and dashboards for coaches and administrators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0408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Workflow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web application that manages the complete sports academy ecosystem while using AI to analyze player performance and provide personalized recommendations.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2569464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3957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0" y="2395728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160520" y="2569464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89120" y="23957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Management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85800" y="3136392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29626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0" y="2962656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60520" y="3136392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89120" y="29626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3703320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3529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Schedule Mgmt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023360" y="3529584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160520" y="3703320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0" y="3529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9651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85800" y="4270248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4400" y="4096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Analytics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23360" y="4096512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160520" y="4270248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89120" y="4096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3291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85800" y="4837176"/>
            <a:ext cx="109728" cy="10972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4400" y="4663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3840" y="1234440"/>
            <a:ext cx="3794760" cy="5257800"/>
          </a:xfrm>
          <a:prstGeom prst="roundRect">
            <a:avLst>
              <a:gd name="adj" fmla="val 241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18388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1874520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366760" y="187452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Registration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646920" y="23500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83880" y="2532888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366760" y="253288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Training Records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646920" y="30083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183880" y="3191256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66760" y="3191256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Collection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646920" y="366674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83880" y="3849624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366760" y="3849624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Analysis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9646920" y="43251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183880" y="4507992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366760" y="45079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Dashboard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646920" y="49834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83880" y="5166360"/>
            <a:ext cx="3200400" cy="493776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366760" y="516636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Hardware, Software &amp; Data Requirements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1C4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17373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258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Laptop / Desktop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Internet Connection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71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Camera (optional)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Mobile Device (optional)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3566160" cy="2926080"/>
          </a:xfrm>
          <a:prstGeom prst="roundRect">
            <a:avLst>
              <a:gd name="adj" fmla="val 2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1C4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38404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Python, JavaScript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Code, Jupyter Notebook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9743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React.js, Flask / FastAPI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26694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PostgreSQL, MongoDB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559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TensorFlow / Scikit-learn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 (optional), Chart.js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15087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1C4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12064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Self-Collected Dataset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2286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Player Information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2578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Records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2871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Sessions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Match Statistics, Fitness Scores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36118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61C4D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0" y="38404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120640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Datasets (optional)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617720" y="43891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Kaggle Sports Performance Dataset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17720" y="4681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FIFA Player Dataset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17720" y="497433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Athlete Performance Dataset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150876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41248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 STACK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2194560"/>
            <a:ext cx="29718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95360" y="2267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95360" y="2523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12480" y="3017520"/>
            <a:ext cx="29718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595360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95360" y="33467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12480" y="3840480"/>
            <a:ext cx="29718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536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595360" y="41696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MongoDB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412480" y="4663440"/>
            <a:ext cx="29718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595360" y="4736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595360" y="4992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Scikit-learn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412480" y="5486400"/>
            <a:ext cx="29718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59536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595360" y="58155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OF THE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Project Unique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sports academy management systems, this project integrates Artificial Intelligence for intelligent player analysis and decision support.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Player Performance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player progress based on training and match performance.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45152" y="1993392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451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39512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Training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45152" y="25420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customized improvement plans for each athlete using AI.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84464" y="178308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513064" y="1993392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130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07424" y="19385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Performance Dashboard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13064" y="25420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of player growth, attendance, fitness, and achievements.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DIFFERS FROM EXISTING SYSTEMS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7223760" cy="1691640"/>
        </p:xfrm>
        <a:graphic>
          <a:graphicData uri="http://schemas.openxmlformats.org/drawingml/2006/table">
            <a:tbl>
              <a:tblPr/>
              <a:tblGrid>
                <a:gridCol w="3611880"/>
                <a:gridCol w="3611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Sports Academy Mgmt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8E9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performance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performance 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attendance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attendance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coaching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AI recommendations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decision-making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Data-driven coaching insights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8138160" y="342900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412480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AI FEATURES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412480" y="4050792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668512" y="3950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Prediction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668512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improvement via ML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412480" y="4892040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8668512" y="4791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Recommendation Engine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668512" y="5047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drills for weaknesses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412480" y="5733288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8668512" y="56327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Risk Prediction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668512" y="58887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AE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risk from workload trends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ENGINEERING  · 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Academy 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systems, comparative analysis, gap identification and proposed direction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292840" y="457200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94008" y="457200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695176" y="457200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292840" y="658368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494008" y="658368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695176" y="658368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292840" y="859536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494008" y="859536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1695176" y="859536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2148840"/>
            <a:ext cx="11247120" cy="4251960"/>
          </a:xfrm>
          <a:prstGeom prst="roundRect">
            <a:avLst>
              <a:gd name="adj" fmla="val 2581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Vardhan Reddy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2510030153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Sai Varun Reddy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2510030021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663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4974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2510030380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2926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 Sai Chaitanya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60520" y="3236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2510030096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Anshith Reddy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60520" y="4105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2510030327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18120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181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11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1812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18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Rafeeq Mohammed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1812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·  DEPARTMENT  ·  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4389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DBE &amp; DSD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— Scope for This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literature review studies what already exists before designing the AI Sports Academy Management System — the applications built so far, the databases and architectures behind them, and the limitations that leave room for improvement.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5328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0720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onboarding, batch/coach allocation, attendance, fee and performance tracking in sports academies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34015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profiles, attendance logs, performance/test scores, payments, and coach-batch relationships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42702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445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engines (MySQL, PostgreSQL, Oracle) and NoSQL/sensor-data stores used across reviewed systems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257800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51389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Requirements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41324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performance, real-time dashboards, and scalable storage for sensor/training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60920" y="1234440"/>
            <a:ext cx="4343400" cy="4892040"/>
          </a:xfrm>
          <a:prstGeom prst="roundRect">
            <a:avLst>
              <a:gd name="adj" fmla="val 210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6809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181051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Academy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8096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0960" y="31546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 in sports/academy management software?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were athlete, coach and attendance data modeled?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databases were used, and why?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or limitations remain?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our project improve?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EXISTING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Reviewed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studies covering sports/event management, gym administration, intramural systems and AI-based athlete training platforms.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746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Sports Management System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Coordinator-driven event registration, notifications and scheduling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46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Sports Training System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514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venue/equipment recommendation for college sports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29600" y="17830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1746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Sports Mgmt. (ISMS)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0" y="22860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MongoDB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0" y="2514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 networks and neural nets for athlete performance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33832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Sports Performance System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886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physical-fitness test scoring and statistical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434840" y="33832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4348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System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34840" y="3886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34840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Membership, trainer assignment and workout-schedule tracking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46720" y="32004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229600" y="3383280"/>
            <a:ext cx="384048" cy="384048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296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3252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Intramural Sport Management System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29600" y="388620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29600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scheduling and statistics for campus sports leagues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TECHNOLOGY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Technologies Across Existing Systems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61264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S1, S2, S4, S5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data, event schedules, membership records, test scores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athlete records (PostgreSQL) with sensor/unstructured data (MongoDB)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Two/three-tier registration and league statistics for intramural sports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112471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(MySQL, Oracle) dominate reviewed systems for transactional data such as registration, fees and schedules. Only one study (S3) combines a relational store with a document/sensor store for performance analytics — most systems treat administration and performance data as separate, unconnected concerns.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COMPARATIVE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Matrix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45720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606040"/>
                <a:gridCol w="2331720"/>
                <a:gridCol w="2240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 College Sports Mgmt.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registration &amp; notifications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coordinator-friendly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athlete performance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– Intelligent Training Sys.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equipment/venue recommendation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suggestions via deep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dedicated batch/coach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– ISMS (Sensor Networks)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MongoDB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performance via sensors &amp; neural nets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real-time performance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infrastructure, no fee/admin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– Performance Mgmt. Sys.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Digitized fitness test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manual, error-prone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predictive or trend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– Gym Management Sys.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&amp; trainer assignment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member/trainer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performance or attendance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 – Intramural Sport Sys.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 registration &amp; statistics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transactional consistency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AI/prediction, limited scalability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GAP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 — Existing Approaches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1874520"/>
                <a:gridCol w="2331720"/>
                <a:gridCol w="2286000"/>
                <a:gridCol w="2377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Technology/DB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– Event registration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notices, schedules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athlete or performance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performance module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– AI recommendation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Equipment/venue suggestions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batch or coach structure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Coach–batch allocation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– Sensor-based ISMS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MongoDB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performance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admin/fee/attendance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admin + analytics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– Fitness scoring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Digitized test scores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trend or prediction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performance tracking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– Gym membership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&amp; trainer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performance/attendance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Attendance-performance link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CRITICAL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Review of Key Studies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Study: S3 uses PostgreSQL + MongoDB with wireless sensor networks and neural networks for real-time athlete performance monitoring.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971800"/>
        </p:xfrm>
        <a:graphic>
          <a:graphicData uri="http://schemas.openxmlformats.org/drawingml/2006/table">
            <a:tbl>
              <a:tblPr/>
              <a:tblGrid>
                <a:gridCol w="2377440"/>
                <a:gridCol w="8869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Observation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ACID-compliant relational core plus flexible document store; suited to real-time sensor throughput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coverage of academy administration — batches, coach allocation, attendance or fee collection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Performance-analytics accuracy is not compared against a simpler, purely relational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improvement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S3's analytics approach with an integrated relational schema for full academy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91440" marB="91440" anchor="ctr">
                    <a:lnL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983480"/>
            <a:ext cx="1124712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5148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vs CRITICAL 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describes what a study did. A critical review asks whether the approach was appropriate, whether the database choice suited the workload, and what remains untested — the basis for the gap identified next.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RESEARCH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 in Existing Work?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reviewed literature, existing systems primarily focus on either administrative record-keeping (registration, fees, membership) or isolated performance analytics — while limited work integrates both into a single, database-driven academy platform.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953512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8163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system unifies athlete profiles, coach/batch allocation, attendance and fees in one schema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30752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5935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 (S2) and sensor analytics (S3) are not combined with day-to-day academy administration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507992"/>
            <a:ext cx="128016" cy="128016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3708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systems offer predictive performance tracking tied directly to attendance and training history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86600" y="1234440"/>
            <a:ext cx="4617720" cy="4892040"/>
          </a:xfrm>
          <a:prstGeom prst="roundRect">
            <a:avLst>
              <a:gd name="adj" fmla="val 198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40664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06640" y="181051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studies treat academy administration and athlete performance analytics as separate systems built on different technologies.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06640" y="29718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543800" y="3154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+  Integrated AI Analytics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41148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reviewed studies and how each fell short to justify a single relational database that links athletes, coaches, attendance, fees and AI-driven performance prediction.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PROPOSED DIRECTION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Proposed System Addresses the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relational database (PostgreSQL) links athletes, coaches, batches, attendance and fee records — replacing the siloed designs seen in S1, S4 and S5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3716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294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62763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Module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Performance-prediction logic inspired by S2 and S3, applied on top of structured attendance and training-history data rather than sensor data alone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and admin dashboards surface attendance, fee status and performance trends together — a combination absent from every reviewed study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37947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629400" y="4069080"/>
            <a:ext cx="457200" cy="457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29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0507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66344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constraints and role-based access from the outset, addressing the performance and security gaps noted across S1–S6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Reviewed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— Sports Management System, International Research Journal of Modernization in Engineering, Technology and Science (IRJMETS)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Design and Implementation of Intelligent Sports Training System for College Students' Mental Health Education, Frontiers in Psychology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Design and Implementation of an Intelligent Sports Management System (ISMS) Using Wireless Sensor Networks, PMC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— Design and Implementation of a College Student Sports Performance Management System, Atlantis Press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— NUTRIFLEX: Gym Management Website, IRJMETS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— An Intramural Sport Management System, University of Wisconsin Manuscript Repository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2926080" cy="292608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5120640"/>
            <a:ext cx="2377440" cy="237744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ENGINEERING  ·  PBL REVIEW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Academy Management System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and Implementation Plan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 from Review 2: unified PostgreSQL schema + integrated AI performance analytics, addressing the gaps identified across six reviewed systems (S1–S6).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3429000"/>
          </a:xfrm>
          <a:prstGeom prst="roundRect">
            <a:avLst>
              <a:gd name="adj" fmla="val 2133"/>
            </a:avLst>
          </a:prstGeom>
          <a:solidFill>
            <a:srgbClr val="161C4D"/>
          </a:solidFill>
          <a:ln w="9525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Vardhan Reddy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044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2510030153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Sai Varun Reddy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2510030021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718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651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2510030380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2486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A.V. Sai Chaitanya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49554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2510030096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779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Anshith Reddy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602589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2510030327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Rafeeq Mohammed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·  DEPARTMENT  ·  AY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25CS1302E – DBE &amp; DSD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197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2026–27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academies currently run athlete onboarding, coach/batch allocation, attendance, fees and performance tracking as disconnected activities. Review 2 showed that every reviewed system (S1–S6) solves one slice of this — none link administration and performance analytics in a single schema.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724912" cy="324612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37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8404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profiles, attendance, fees and performance scores are kept in separate registers or spreadsheets with no shared keys.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2423160"/>
            <a:ext cx="2724912" cy="324612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75304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75304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337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insight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38404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 (S4) and sensor analytics (S3) are captured but never turned into a trend or forecast a coach can act 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2423160"/>
            <a:ext cx="2724912" cy="324612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64808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6480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3337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admin overhead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38404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Coach-batch allocation and fee follow-up (as in S1, S5) are done manually, which is slow and error-prone at academy scale.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25712" y="2423160"/>
            <a:ext cx="2724912" cy="324612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54312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35431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54312" y="333756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dashboard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354312" y="3840480"/>
            <a:ext cx="22677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and coaches have no single real-time view combining attendance, fee status and performance together.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47672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801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registration &amp; profile forms (personal details, sport, batch preference)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368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registers digitized at each training session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35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and batch scheduling records maintained by admin staff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648456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502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payment and due records from academy accounts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215384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Performance/fitness test scores recorded periodically by coaches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537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 to Gather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03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web forms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4231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attendance marking and fee entry captured directly through the application's dashboards — the primary live data feed.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bulk import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474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academy registers imported once during setup to seed athlete, coach and fee history.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by coaches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26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Performance/test scores entered after each assessment session, tied to athlete and batch IDs.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Sample/synthetic datasets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5778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prototype and validate the AI performance-prediction module before enough real history accumulates.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39312" cy="4297680"/>
          </a:xfrm>
          <a:prstGeom prst="roundRect">
            <a:avLst>
              <a:gd name="adj" fmla="val 175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3639312" cy="5943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38658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96112" y="2240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athlete and coach records on registration ID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43814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96112" y="32918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date formats across attendance and fee-due fields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48970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96112" y="43434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mandatory fields (name, batch, contact) at entry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79392" y="1463040"/>
            <a:ext cx="3639312" cy="4297680"/>
          </a:xfrm>
          <a:prstGeom prst="roundRect">
            <a:avLst>
              <a:gd name="adj" fmla="val 175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279392" y="1463040"/>
            <a:ext cx="3639312" cy="59436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507992" y="14630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07992" y="2386584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718304" y="2240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incomplete attendance entries for coach confirmation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07992" y="3438144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718304" y="32918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last-known or mean value to fill gaps in test-score history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07992" y="4489704"/>
            <a:ext cx="73152" cy="73152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718304" y="43434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optional profile fields nullable rather than forcing bad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01584" y="1463040"/>
            <a:ext cx="3639312" cy="4297680"/>
          </a:xfrm>
          <a:prstGeom prst="roundRect">
            <a:avLst>
              <a:gd name="adj" fmla="val 175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101584" y="1463040"/>
            <a:ext cx="3639312" cy="594360"/>
          </a:xfrm>
          <a:prstGeom prst="rect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330184" y="1463040"/>
            <a:ext cx="3182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/ Selection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330184" y="2386584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540496" y="224028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attendance percentage per athlete per batch cycle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30184" y="3438144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540496" y="329184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fee-payment status (on-time / overdue) as a feature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30184" y="4489704"/>
            <a:ext cx="73152" cy="73152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540496" y="43434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performance-trend features from sequential test scores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PostgreSQL database links every module, replacing the siloed designs seen across S1, S4 and S5, and feeding a dedicated AI performance-analytics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9436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 Layer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11247120" cy="105156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9436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05740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205740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52044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Dashboard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21792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/ Parent Portal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05740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F3C7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915400" y="2057400"/>
            <a:ext cx="2468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 Access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975104" y="276148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672584" y="276148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70064" y="276148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067544" y="276148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333756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22960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 (Backend Services)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333756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17920" y="3337560"/>
            <a:ext cx="5166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Performance-Prediction Service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00984" y="404164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695944" y="4041648"/>
            <a:ext cx="164592" cy="256032"/>
          </a:xfrm>
          <a:prstGeom prst="down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22960" y="461772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3E8E9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22960" y="4617720"/>
            <a:ext cx="5120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Unified Relational Schema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17920" y="4617720"/>
            <a:ext cx="5166360" cy="640080"/>
          </a:xfrm>
          <a:prstGeom prst="roundRect">
            <a:avLst>
              <a:gd name="adj" fmla="val 8571"/>
            </a:avLst>
          </a:prstGeom>
          <a:solidFill>
            <a:srgbClr val="3E8E9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217920" y="4617720"/>
            <a:ext cx="51663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/ Real-Time Dashboards Output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 Athlete Management · Coach &amp; Batch Allocation · Attendance · Fee Management · Performance Analytics (AI) · Dashboard &amp; Reporting — all interacting through the shared API layer and one PostgreSQL schema rather than isolated stores.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Technology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Approach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167128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05840" y="20116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Trend-based regression model that scores athlete performance from sequential test scores + attendance history — no sensor hardware required, unlike S3.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3191256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05840" y="303580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S2's recommendation logic and S3's analytics, but applied to structured administrative data already captured by the 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215384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005840" y="405993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flag (on-track / at-risk) generated per athlete to support coach decisions, plus a numeric trend score for dashboards.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5239512"/>
            <a:ext cx="82296" cy="822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005840" y="5084064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retrained periodically as new attendance and test-score data accumulates in PostgreSQL.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 &amp; Frameworks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48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(backend &amp; AI), JavaScript (frontend)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624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6243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0998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0998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/ Flask REST API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575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57530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050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Libraries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0507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526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526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5074920"/>
            <a:ext cx="4937760" cy="0"/>
          </a:xfrm>
          <a:prstGeom prst="line">
            <a:avLst/>
          </a:prstGeom>
          <a:noFill/>
          <a:ln w="12700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6492240" y="5166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chosen over plain MySQL for JSON support (semi-structured performance data) and strong relational integrity linking athletes, coaches, attendance and fees; Python keeps the ML pipeline and backend in one ecosystem.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PROPOSED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3035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fees,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scores, profiles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84832" y="2971800"/>
            <a:ext cx="310896" cy="182880"/>
          </a:xfrm>
          <a:prstGeom prst="right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7744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45059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45059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deduplicate,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37744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05072" y="2971800"/>
            <a:ext cx="310896" cy="182880"/>
          </a:xfrm>
          <a:prstGeom prst="right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9768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37083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%, fee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score trends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E8E9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2976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25312" y="2971800"/>
            <a:ext cx="310896" cy="182880"/>
          </a:xfrm>
          <a:prstGeom prst="right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1792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System Processing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performance-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service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179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45552" y="2971800"/>
            <a:ext cx="310896" cy="182880"/>
          </a:xfrm>
          <a:prstGeom prst="right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13816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21131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Generation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21131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 / coach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13816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13816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65792" y="2971800"/>
            <a:ext cx="310896" cy="182880"/>
          </a:xfrm>
          <a:prstGeom prst="rightArrow">
            <a:avLst/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058400" y="237744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10131552" y="251460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0131552" y="301752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predictions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actual outcomes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58400" y="199339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3E8E9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1005840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8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athlete's weekly attendance and monthly test score feed the model; the dashboard flags a dip in trend before it shows up in results, and coaches evaluate the flag against real outcomes each cycle.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 &amp;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JavaScript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53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75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5753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97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Libraries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41970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818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4818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5440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1371600"/>
            <a:ext cx="7388352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617720" y="1600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617720" y="214884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617720" y="2148840"/>
            <a:ext cx="1554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1945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React-based dashboards for Admin, Coach and Athlete/Parent roles, consuming REST APIs.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172968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617720" y="3172968"/>
            <a:ext cx="1554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32186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Django/Flask REST API layer exposing endpoints for each module and the prediction service.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4197096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617720" y="4197096"/>
            <a:ext cx="1554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2428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single schema linking athletes, coaches, batches, attendance and fees.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5221224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617720" y="5221224"/>
            <a:ext cx="1554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Services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5266944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service, notification service, and AI performance-prediction service.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Implementation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480560"/>
        </p:xfrm>
        <a:graphic>
          <a:graphicData uri="http://schemas.openxmlformats.org/drawingml/2006/table">
            <a:tbl>
              <a:tblPr/>
              <a:tblGrid>
                <a:gridCol w="3474720"/>
                <a:gridCol w="77724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/ User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profile management, role-based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attendance capture and tracking per batch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&amp; Batch Allocation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coaches to batches and manage scheduling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tracking, payment status and reminders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Analytics (AI)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performance scoring from attendance and training 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&amp; Reporting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visual reports for admin, coach and athlete views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8368" y="16642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5836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842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module scope and data fields with the academy stakeholders.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64808" y="166420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64808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9842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create the unified PostgreSQL schema and constraints.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58368" y="33101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58368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6301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API services for each module and the prediction service.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64808" y="331012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64808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301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role-based React dashboards for admin, coach and athlete.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4956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58368" y="4956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2760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and performance testing across modules.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7091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64808" y="49560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64808" y="4956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92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2760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 a cloud/local server with role-based access enabled.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24912" cy="448056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272491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94560"/>
            <a:ext cx="2322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(attendance, fees, allocation, prediction) tested in isolation against expected inputs/outputs.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6704" y="1463040"/>
            <a:ext cx="2724912" cy="448056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46704" y="1463040"/>
            <a:ext cx="2724912" cy="548640"/>
          </a:xfrm>
          <a:prstGeom prst="rect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529584" y="1463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194560"/>
            <a:ext cx="2322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flows verified across modules — e.g. attendance feeding into the performance-prediction service.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6208" y="1463040"/>
            <a:ext cx="2724912" cy="448056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36208" y="1463040"/>
            <a:ext cx="2724912" cy="548640"/>
          </a:xfrm>
          <a:prstGeom prst="rect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19088" y="1463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2194560"/>
            <a:ext cx="2322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times and dashboard load under concurrent admin/coach/athlete access.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25712" y="1463040"/>
            <a:ext cx="2724912" cy="4480560"/>
          </a:xfrm>
          <a:prstGeom prst="roundRect">
            <a:avLst>
              <a:gd name="adj" fmla="val 2349"/>
            </a:avLst>
          </a:prstGeom>
          <a:solidFill>
            <a:srgbClr val="F4F6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25712" y="1463040"/>
            <a:ext cx="2724912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308592" y="14630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194560"/>
            <a:ext cx="232257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 validated with MAE/RMSE (trend score) and classification accuracy (on-track / at-risk flag) against held-out data.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2926080" cy="2926080"/>
          </a:xfrm>
          <a:prstGeom prst="ellipse">
            <a:avLst/>
          </a:prstGeom>
          <a:solidFill>
            <a:srgbClr val="2F3C7E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39312" cy="4206240"/>
          </a:xfrm>
          <a:prstGeom prst="roundRect">
            <a:avLst>
              <a:gd name="adj" fmla="val 2010"/>
            </a:avLst>
          </a:prstGeom>
          <a:solidFill>
            <a:srgbClr val="161C4D"/>
          </a:solidFill>
          <a:ln w="9525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Local Server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 cloud host (e.g. Render/AWS) for the demo build, with a local-server option for offline academy 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645920"/>
            <a:ext cx="3639312" cy="4206240"/>
          </a:xfrm>
          <a:prstGeom prst="roundRect">
            <a:avLst>
              <a:gd name="adj" fmla="val 2010"/>
            </a:avLst>
          </a:prstGeom>
          <a:solidFill>
            <a:srgbClr val="161C4D"/>
          </a:solidFill>
          <a:ln w="9525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07992" y="192024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 Process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260604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Admin, Coach and Athlete/Parent, each restricted to relevant modules and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1645920"/>
            <a:ext cx="3639312" cy="4206240"/>
          </a:xfrm>
          <a:prstGeom prst="roundRect">
            <a:avLst>
              <a:gd name="adj" fmla="val 2010"/>
            </a:avLst>
          </a:prstGeom>
          <a:solidFill>
            <a:srgbClr val="161C4D"/>
          </a:solidFill>
          <a:ln w="9525">
            <a:solidFill>
              <a:srgbClr val="2F3C7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330184" y="192024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Strategy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30184" y="260604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database backups, versioned schema migrations, and periodic retraining of the prediction model as new data accumulates.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3"/>
                </a:solidFill>
              </a:rPr>
              <a:t>DATABASE ENGINEERING  ·  PROJECT-BASED LEARNING  ·  REVIEW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Sports Academy Management System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0881360" cy="3200400"/>
          </a:xfrm>
          <a:prstGeom prst="roundRect">
            <a:avLst>
              <a:gd name="adj" fmla="val 1714"/>
            </a:avLst>
          </a:prstGeom>
          <a:solidFill>
            <a:schemeClr val="tx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STUDENT / TEAM NAMES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7472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Rishi Vardhan Reddy 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2510030153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M. Sai Varun Reddy 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2510030021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Tirumala Naidu 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2510030380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A.V. Sai Chaitanya 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2510030096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Anshith Reddy  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accent3"/>
                </a:solidFill>
              </a:rPr>
              <a:t>2510030327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PROJECT GROUP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Group – 11  ·  25CS1302E – DBE &amp; DSD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FACULTY MENTOR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Rafeeq Mohammed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5074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DEPARTMENT  ·  ACADEMIC YEAR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Computer Science and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Academic Year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01 · PROJECT OBJECTIVES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Build one integrated platform that replaces disconnected registers and spreadsheets with a single PostgreSQL schema plus AI-driven performance insight.</a:t>
            </a:r>
            <a:endParaRPr lang="en-US" sz="1400" dirty="0"/>
          </a:p>
        </p:txBody>
      </p:sp>
      <p:sp>
        <p:nvSpPr>
          <p:cNvPr id="5" name="Objective card 1"/>
          <p:cNvSpPr/>
          <p:nvPr/>
        </p:nvSpPr>
        <p:spPr>
          <a:xfrm>
            <a:off x="548640" y="2194560"/>
            <a:ext cx="2670048" cy="35661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423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database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Design one relational PostgreSQL schema linking athletes, coaches, batches, attendance, fees and performance.</a:t>
            </a:r>
            <a:endParaRPr lang="en-US" sz="1300" dirty="0"/>
          </a:p>
        </p:txBody>
      </p:sp>
      <p:sp>
        <p:nvSpPr>
          <p:cNvPr id="10" name="Objective card 2"/>
          <p:cNvSpPr/>
          <p:nvPr/>
        </p:nvSpPr>
        <p:spPr>
          <a:xfrm>
            <a:off x="3364992" y="2194560"/>
            <a:ext cx="2670048" cy="35661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93592" y="2423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93592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administration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657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Digitize athlete onboarding, coach/batch allocation, attendance marking and fee tracking.</a:t>
            </a:r>
            <a:endParaRPr lang="en-US" sz="1300" dirty="0"/>
          </a:p>
        </p:txBody>
      </p:sp>
      <p:sp>
        <p:nvSpPr>
          <p:cNvPr id="15" name="Objective card 3"/>
          <p:cNvSpPr/>
          <p:nvPr/>
        </p:nvSpPr>
        <p:spPr>
          <a:xfrm>
            <a:off x="6181344" y="2194560"/>
            <a:ext cx="2670048" cy="35661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9944" y="2423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9944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performance prediction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657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Score athlete trends from test scores and attendance and flag on-track / at-risk athletes.</a:t>
            </a:r>
            <a:endParaRPr lang="en-US" sz="1300" dirty="0"/>
          </a:p>
        </p:txBody>
      </p:sp>
      <p:sp>
        <p:nvSpPr>
          <p:cNvPr id="20" name="Objective card 4"/>
          <p:cNvSpPr/>
          <p:nvPr/>
        </p:nvSpPr>
        <p:spPr>
          <a:xfrm>
            <a:off x="8997696" y="2194560"/>
            <a:ext cx="2670048" cy="35661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226296" y="24231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226296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dashboards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365760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Give Admin, Coach and Athlete/Parent a real-time, access-controlled view of the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02 · DEVELOPMENT APPROACH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Development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phase fed the next, from requirements to a deployed, role-based system.</a:t>
            </a:r>
            <a:endParaRPr lang="en-US" sz="1400" dirty="0"/>
          </a:p>
        </p:txBody>
      </p:sp>
      <p:sp>
        <p:nvSpPr>
          <p:cNvPr id="5" name="Phase 1"/>
          <p:cNvSpPr/>
          <p:nvPr/>
        </p:nvSpPr>
        <p:spPr>
          <a:xfrm>
            <a:off x="54864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Scope modules and data fields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0" name="Phase 2"/>
          <p:cNvSpPr/>
          <p:nvPr/>
        </p:nvSpPr>
        <p:spPr>
          <a:xfrm>
            <a:off x="242316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60604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Setup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Unified PostgreSQL schema and constraints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Phase 3"/>
          <p:cNvSpPr/>
          <p:nvPr/>
        </p:nvSpPr>
        <p:spPr>
          <a:xfrm>
            <a:off x="429768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48056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REST APIs and prediction service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20" name="Phase 4"/>
          <p:cNvSpPr/>
          <p:nvPr/>
        </p:nvSpPr>
        <p:spPr>
          <a:xfrm>
            <a:off x="617220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3550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Role-based React dashboards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25" name="Phase 5"/>
          <p:cNvSpPr/>
          <p:nvPr/>
        </p:nvSpPr>
        <p:spPr>
          <a:xfrm>
            <a:off x="804672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22960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Debugging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Unit, integration, performance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3429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30" name="Phase 6"/>
          <p:cNvSpPr/>
          <p:nvPr/>
        </p:nvSpPr>
        <p:spPr>
          <a:xfrm>
            <a:off x="9921240" y="2468880"/>
            <a:ext cx="1691640" cy="2651760"/>
          </a:xfrm>
          <a:prstGeom prst="roundRect">
            <a:avLst>
              <a:gd name="adj" fmla="val 4324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010412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3246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4023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Cloud / local server release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03 · IMPLEMENTATION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Implementation</a:t>
            </a:r>
            <a:endParaRPr lang="en-US" sz="3000" dirty="0"/>
          </a:p>
        </p:txBody>
      </p:sp>
      <p:sp>
        <p:nvSpPr>
          <p:cNvPr id="4" name="Tech card 1"/>
          <p:cNvSpPr/>
          <p:nvPr/>
        </p:nvSpPr>
        <p:spPr>
          <a:xfrm>
            <a:off x="548640" y="1554480"/>
            <a:ext cx="2103120" cy="3931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2103120" cy="91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React dashboards for Admin, Coach and Athlete/Parent roles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2788920" y="1554480"/>
            <a:ext cx="2103120" cy="3931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03120" cy="91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97180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60604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Python 3 with Django/Flask REST API for every module</a:t>
            </a:r>
            <a:endParaRPr lang="en-US" sz="1400" dirty="0"/>
          </a:p>
        </p:txBody>
      </p:sp>
      <p:sp>
        <p:nvSpPr>
          <p:cNvPr id="12" name="Tech card 3"/>
          <p:cNvSpPr/>
          <p:nvPr/>
        </p:nvSpPr>
        <p:spPr>
          <a:xfrm>
            <a:off x="5029200" y="1554480"/>
            <a:ext cx="2103120" cy="3931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210312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21208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60604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PostgreSQL – single relational schema with integrity constraints</a:t>
            </a:r>
            <a:endParaRPr lang="en-US" sz="1400" dirty="0"/>
          </a:p>
        </p:txBody>
      </p:sp>
      <p:sp>
        <p:nvSpPr>
          <p:cNvPr id="16" name="Tech card 4"/>
          <p:cNvSpPr/>
          <p:nvPr/>
        </p:nvSpPr>
        <p:spPr>
          <a:xfrm>
            <a:off x="7269480" y="1554480"/>
            <a:ext cx="2103120" cy="3931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210312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45236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/ Services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60604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Authentication, notification and AI prediction services</a:t>
            </a:r>
            <a:endParaRPr lang="en-US" sz="1400" dirty="0"/>
          </a:p>
        </p:txBody>
      </p:sp>
      <p:sp>
        <p:nvSpPr>
          <p:cNvPr id="20" name="Tech card 5"/>
          <p:cNvSpPr/>
          <p:nvPr/>
        </p:nvSpPr>
        <p:spPr>
          <a:xfrm>
            <a:off x="9509760" y="1554480"/>
            <a:ext cx="2103120" cy="39319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509760" y="1554480"/>
            <a:ext cx="2103120" cy="91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969264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Environment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260604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VS Code, Git / GitHub; pandas and scikit-learn for ML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Tools and frameworks as selected in Review 3 and used in the working build.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04 · SYSTEM ARCHITECTURE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Arch User"/>
          <p:cNvSpPr/>
          <p:nvPr/>
        </p:nvSpPr>
        <p:spPr>
          <a:xfrm>
            <a:off x="548640" y="228600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Admin · Coach · Athlete / Parent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Arch Frontend"/>
          <p:cNvSpPr/>
          <p:nvPr/>
        </p:nvSpPr>
        <p:spPr>
          <a:xfrm>
            <a:off x="2834640" y="228600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role-based dashboards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Arch API / Backend"/>
          <p:cNvSpPr/>
          <p:nvPr/>
        </p:nvSpPr>
        <p:spPr>
          <a:xfrm>
            <a:off x="5120640" y="228600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212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Backend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REST services + AI prediction service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Arch Database"/>
          <p:cNvSpPr/>
          <p:nvPr/>
        </p:nvSpPr>
        <p:spPr>
          <a:xfrm>
            <a:off x="7406640" y="228600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498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PostgreSQL unified schema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Arch Response"/>
          <p:cNvSpPr/>
          <p:nvPr/>
        </p:nvSpPr>
        <p:spPr>
          <a:xfrm>
            <a:off x="9692640" y="2286000"/>
            <a:ext cx="1828800" cy="173736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784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8298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Dashboards, reports, alerts</a:t>
            </a:r>
            <a:endParaRPr lang="en-US" sz="1200" dirty="0"/>
          </a:p>
        </p:txBody>
      </p:sp>
      <p:sp>
        <p:nvSpPr>
          <p:cNvPr id="23" name="Architecture note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22960" y="4663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Request flow: the user acts in the React frontend, which calls the REST API. The backend validates the role, reads or writes PostgreSQL, optionally runs the AI performance-prediction service, and returns the response to the dashboard. All modules share one schema instead of isolated stores.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05 · WORKING DEMONSTRATION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/ Working Demonstration</a:t>
            </a:r>
            <a:endParaRPr lang="en-US" sz="3000" dirty="0"/>
          </a:p>
        </p:txBody>
      </p:sp>
      <p:pic>
        <p:nvPicPr>
          <p:cNvPr id="4" name="Screenshot Login page" descr="Screenshot of the Log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566160" cy="2011680"/>
          </a:xfrm>
          <a:prstGeom prst="rect">
            <a:avLst/>
          </a:prstGeom>
        </p:spPr>
      </p:pic>
      <p:sp>
        <p:nvSpPr>
          <p:cNvPr id="5" name="Screenshot frame 1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Login page</a:t>
            </a:r>
            <a:endParaRPr lang="en-US" sz="1300" dirty="0"/>
          </a:p>
        </p:txBody>
      </p:sp>
      <p:pic>
        <p:nvPicPr>
          <p:cNvPr id="7" name="Screenshot Home page – Dashboard" descr="Screenshot of the Home page – Dashbo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63040"/>
            <a:ext cx="3566160" cy="2011680"/>
          </a:xfrm>
          <a:prstGeom prst="rect">
            <a:avLst/>
          </a:prstGeom>
        </p:spPr>
      </p:pic>
      <p:sp>
        <p:nvSpPr>
          <p:cNvPr id="8" name="Screenshot frame 2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42976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Home page – Dashboard</a:t>
            </a:r>
            <a:endParaRPr lang="en-US" sz="1300" dirty="0"/>
          </a:p>
        </p:txBody>
      </p:sp>
      <p:pic>
        <p:nvPicPr>
          <p:cNvPr id="10" name="Screenshot Main application – Players" descr="Screenshot of the Main application – P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63040"/>
            <a:ext cx="3566160" cy="2011680"/>
          </a:xfrm>
          <a:prstGeom prst="rect">
            <a:avLst/>
          </a:prstGeom>
        </p:spPr>
      </p:pic>
      <p:sp>
        <p:nvSpPr>
          <p:cNvPr id="11" name="Screenshot frame 3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804672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Main application – Players</a:t>
            </a:r>
            <a:endParaRPr lang="en-US" sz="1300" dirty="0"/>
          </a:p>
        </p:txBody>
      </p:sp>
      <p:pic>
        <p:nvPicPr>
          <p:cNvPr id="13" name="Screenshot Forms – Add Player" descr="Screenshot of the Forms – Add Play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931920"/>
            <a:ext cx="3566160" cy="2011680"/>
          </a:xfrm>
          <a:prstGeom prst="rect">
            <a:avLst/>
          </a:prstGeom>
        </p:spPr>
      </p:pic>
      <p:sp>
        <p:nvSpPr>
          <p:cNvPr id="14" name="Screenshot frame 4"/>
          <p:cNvSpPr/>
          <p:nvPr/>
        </p:nvSpPr>
        <p:spPr>
          <a:xfrm>
            <a:off x="548640" y="393192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5" name="Text 9"/>
          <p:cNvSpPr txBox="1"/>
          <p:nvPr/>
        </p:nvSpPr>
        <p:spPr>
          <a:xfrm>
            <a:off x="54864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Forms – Add Player</a:t>
            </a:r>
            <a:endParaRPr lang="en-US" sz="1300" dirty="0"/>
          </a:p>
        </p:txBody>
      </p:sp>
      <p:pic>
        <p:nvPicPr>
          <p:cNvPr id="16" name="Screenshot Dashboard – AI Performance" descr="Screenshot of the Dashboard – AI Perform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931920"/>
            <a:ext cx="3566160" cy="2011680"/>
          </a:xfrm>
          <a:prstGeom prst="rect">
            <a:avLst/>
          </a:prstGeom>
        </p:spPr>
      </p:pic>
      <p:sp>
        <p:nvSpPr>
          <p:cNvPr id="17" name="Screenshot frame 5"/>
          <p:cNvSpPr/>
          <p:nvPr/>
        </p:nvSpPr>
        <p:spPr>
          <a:xfrm>
            <a:off x="4297680" y="393192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8" name="Text 11"/>
          <p:cNvSpPr txBox="1"/>
          <p:nvPr/>
        </p:nvSpPr>
        <p:spPr>
          <a:xfrm>
            <a:off x="429768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 – AI Performance</a:t>
            </a:r>
            <a:endParaRPr lang="en-US" sz="1300" dirty="0"/>
          </a:p>
        </p:txBody>
      </p:sp>
      <p:pic>
        <p:nvPicPr>
          <p:cNvPr id="19" name="Screenshot Output – Injury Risk Prediction" descr="Screenshot of the Output – Injury Risk Predic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931920"/>
            <a:ext cx="3566160" cy="2011680"/>
          </a:xfrm>
          <a:prstGeom prst="rect">
            <a:avLst/>
          </a:prstGeom>
        </p:spPr>
      </p:pic>
      <p:sp>
        <p:nvSpPr>
          <p:cNvPr id="20" name="Screenshot frame 6"/>
          <p:cNvSpPr/>
          <p:nvPr/>
        </p:nvSpPr>
        <p:spPr>
          <a:xfrm>
            <a:off x="8046720" y="3931920"/>
            <a:ext cx="3566160" cy="2011680"/>
          </a:xfrm>
          <a:prstGeom prst="rect">
            <a:avLst/>
          </a:prstGeom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21" name="Text 13"/>
          <p:cNvSpPr txBox="1"/>
          <p:nvPr/>
        </p:nvSpPr>
        <p:spPr>
          <a:xfrm>
            <a:off x="804672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Output – Injury Risk Prediction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06 · FUNCTIONAL RESULTS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Results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What the system can actually do:</a:t>
            </a:r>
            <a:endParaRPr lang="en-US" sz="1400" dirty="0"/>
          </a:p>
        </p:txBody>
      </p:sp>
      <p:sp>
        <p:nvSpPr>
          <p:cNvPr id="5" name="Function card 1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1488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registration &amp; login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Role-based access for Admin, Coach and Athlete/Parent</a:t>
            </a:r>
            <a:endParaRPr lang="en-US" sz="1300" dirty="0"/>
          </a:p>
        </p:txBody>
      </p:sp>
      <p:sp>
        <p:nvSpPr>
          <p:cNvPr id="10" name="Function card 2"/>
          <p:cNvSpPr/>
          <p:nvPr/>
        </p:nvSpPr>
        <p:spPr>
          <a:xfrm>
            <a:off x="429768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26280" y="21488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262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update / delete records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Athletes, coaches, batches, attendance and fees</a:t>
            </a:r>
            <a:endParaRPr lang="en-US" sz="1300" dirty="0"/>
          </a:p>
        </p:txBody>
      </p:sp>
      <p:sp>
        <p:nvSpPr>
          <p:cNvPr id="15" name="Function card 3"/>
          <p:cNvSpPr/>
          <p:nvPr/>
        </p:nvSpPr>
        <p:spPr>
          <a:xfrm>
            <a:off x="804672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75320" y="21488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753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2194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filtering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Find athletes by batch, sport, coach or fee status</a:t>
            </a:r>
            <a:endParaRPr lang="en-US" sz="1300" dirty="0"/>
          </a:p>
        </p:txBody>
      </p:sp>
      <p:sp>
        <p:nvSpPr>
          <p:cNvPr id="20" name="Function card 4"/>
          <p:cNvSpPr/>
          <p:nvPr/>
        </p:nvSpPr>
        <p:spPr>
          <a:xfrm>
            <a:off x="54864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communication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983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Frontend and services exchange data through REST endpoints</a:t>
            </a:r>
            <a:endParaRPr lang="en-US" sz="1300" dirty="0"/>
          </a:p>
        </p:txBody>
      </p:sp>
      <p:sp>
        <p:nvSpPr>
          <p:cNvPr id="25" name="Function card 5"/>
          <p:cNvSpPr/>
          <p:nvPr/>
        </p:nvSpPr>
        <p:spPr>
          <a:xfrm>
            <a:off x="429768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2628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52628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operations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983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Constraint-checked reads and writes on one PostgreSQL schema</a:t>
            </a:r>
            <a:endParaRPr lang="en-US" sz="1300" dirty="0"/>
          </a:p>
        </p:txBody>
      </p:sp>
      <p:sp>
        <p:nvSpPr>
          <p:cNvPr id="30" name="Function card 6"/>
          <p:cNvSpPr/>
          <p:nvPr/>
        </p:nvSpPr>
        <p:spPr>
          <a:xfrm>
            <a:off x="804672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275320" y="42976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2753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983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Attendance, fee and performance reports; AI at-risk flags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07 · TESTING RESULTS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Results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329184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Actual Result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Login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Successful login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Successful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Add Record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Record added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Added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Update Record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Record updated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Updated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Delete Record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Record deleted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Deleted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Mark Attendance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Attendance saved per batch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Saved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Fee Status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Paid / overdue shown correctly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Correct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API Request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Correct response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Correct response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AI Prediction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Trend score + at-risk flag returned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1C4D"/>
                          </a:solidFill>
                        </a:rPr>
                        <a:t>Returned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08 · PERFORMANCE ANALYSIS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Measured on the working build: average of 20 runs, Chromium, local machine.</a:t>
            </a:r>
            <a:endParaRPr lang="en-US" sz="1400" dirty="0"/>
          </a:p>
        </p:txBody>
      </p:sp>
      <p:sp>
        <p:nvSpPr>
          <p:cNvPr id="5" name="KPI Test cases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cases</a:t>
            </a:r>
            <a:endParaRPr lang="en-US" sz="1500" dirty="0"/>
          </a:p>
        </p:txBody>
      </p:sp>
      <p:sp>
        <p:nvSpPr>
          <p:cNvPr id="8" name="KPI Successful test cases"/>
          <p:cNvSpPr/>
          <p:nvPr/>
        </p:nvSpPr>
        <p:spPr>
          <a:xfrm>
            <a:off x="429768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57200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Successful test cases</a:t>
            </a:r>
            <a:endParaRPr lang="en-US" sz="1500" dirty="0"/>
          </a:p>
        </p:txBody>
      </p:sp>
      <p:sp>
        <p:nvSpPr>
          <p:cNvPr id="11" name="KPI Error rate"/>
          <p:cNvSpPr/>
          <p:nvPr/>
        </p:nvSpPr>
        <p:spPr>
          <a:xfrm>
            <a:off x="8046720" y="19202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321040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 rate</a:t>
            </a:r>
            <a:endParaRPr lang="en-US" sz="1500" dirty="0"/>
          </a:p>
        </p:txBody>
      </p:sp>
      <p:sp>
        <p:nvSpPr>
          <p:cNvPr id="14" name="KPI Page load time"/>
          <p:cNvSpPr/>
          <p:nvPr/>
        </p:nvSpPr>
        <p:spPr>
          <a:xfrm>
            <a:off x="54864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ms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Page load time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05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Open app to fully loaded</a:t>
            </a:r>
            <a:endParaRPr lang="en-US" sz="1200" dirty="0"/>
          </a:p>
        </p:txBody>
      </p:sp>
      <p:sp>
        <p:nvSpPr>
          <p:cNvPr id="18" name="KPI UI response time"/>
          <p:cNvSpPr/>
          <p:nvPr/>
        </p:nvSpPr>
        <p:spPr>
          <a:xfrm>
            <a:off x="429768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57200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ms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UI response time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605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Login to dashboard and charts</a:t>
            </a:r>
            <a:endParaRPr lang="en-US" sz="1200" dirty="0"/>
          </a:p>
        </p:txBody>
      </p:sp>
      <p:sp>
        <p:nvSpPr>
          <p:cNvPr id="22" name="KPI Data operation time"/>
          <p:cNvSpPr/>
          <p:nvPr/>
        </p:nvSpPr>
        <p:spPr>
          <a:xfrm>
            <a:off x="8046720" y="406908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32104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ms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operation time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605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player and save to browser storage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09 · RESULTS &amp; ANALYSIS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Analysis</a:t>
            </a:r>
            <a:endParaRPr lang="en-US" sz="3000" dirty="0"/>
          </a:p>
        </p:txBody>
      </p:sp>
      <p:sp>
        <p:nvSpPr>
          <p:cNvPr id="4" name="Result card Functional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91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six modules work end to end: login, CRUD, search, API calls, database operations and reports.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ANALYSIS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Admin and coach workflows now sit in one system instead of separate registers.</a:t>
            </a:r>
            <a:endParaRPr lang="en-US" sz="1300" dirty="0"/>
          </a:p>
        </p:txBody>
      </p:sp>
      <p:sp>
        <p:nvSpPr>
          <p:cNvPr id="10" name="Result card Reliability"/>
          <p:cNvSpPr/>
          <p:nvPr/>
        </p:nvSpPr>
        <p:spPr>
          <a:xfrm>
            <a:off x="429768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66160" cy="91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of 8 test cases passed with a 0% error rate across the core flows.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ANALYSIS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Constraints in PostgreSQL kept athlete, batch, attendance and fee records consistent.</a:t>
            </a:r>
            <a:endParaRPr lang="en-US" sz="1300" dirty="0"/>
          </a:p>
        </p:txBody>
      </p:sp>
      <p:sp>
        <p:nvSpPr>
          <p:cNvPr id="16" name="Result card Performance"/>
          <p:cNvSpPr/>
          <p:nvPr/>
        </p:nvSpPr>
        <p:spPr>
          <a:xfrm>
            <a:off x="8046720" y="1554480"/>
            <a:ext cx="3566160" cy="42062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46720" y="1554480"/>
            <a:ext cx="3566160" cy="914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32104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5603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 load 48 ms, login to dashboard 67 ms, add player 11 ms, search under 0.1 ms.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ANALYSIS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343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 interaction responds well under a second, which is fast enough for live use.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10 · CONCLUSION &amp; FUTURE SCOPE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5" name="Future scope card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9525">
            <a:solidFill>
              <a:srgbClr val="E3E6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Project objectives achieved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Unified PostgreSQL schema links every academy module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Administration automated for attendance, fees and allocation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trend scoring flags at-risk athletes for coaches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Role-based dashboards give each user a live view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 more features, such as online fee payment and parent notifications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Mobile app for coaches and athletes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Wearable sensor integration for richer analytics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Improve the prediction model as more data accumulates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41280" y="-548640"/>
            <a:ext cx="2743200" cy="2743200"/>
          </a:xfrm>
          <a:prstGeom prst="ellipse">
            <a:avLst/>
          </a:prstGeom>
          <a:solidFill>
            <a:srgbClr val="3E8E9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E8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Sports Academy Management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11  |  25CS1302E – DBE &amp; DSD  |  Computer Science and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Sports Academy">
  <a:themeElements>
    <a:clrScheme name="AI Sports Academy">
      <a:dk1>
        <a:srgbClr val="161C4D"/>
      </a:dk1>
      <a:lt1>
        <a:srgbClr val="FFFFFF"/>
      </a:lt1>
      <a:dk2>
        <a:srgbClr val="1E2761"/>
      </a:dk2>
      <a:lt2>
        <a:srgbClr val="F4F5FA"/>
      </a:lt2>
      <a:accent1>
        <a:srgbClr val="2F3C7E"/>
      </a:accent1>
      <a:accent2>
        <a:srgbClr val="3E8E9A"/>
      </a:accent2>
      <a:accent3>
        <a:srgbClr val="CADCFC"/>
      </a:accent3>
      <a:accent4>
        <a:srgbClr val="D9942B"/>
      </a:accent4>
      <a:accent5>
        <a:srgbClr val="5A6280"/>
      </a:accent5>
      <a:accent6>
        <a:srgbClr val="2E9E6B"/>
      </a:accent6>
      <a:hlink>
        <a:srgbClr val="2F3C7E"/>
      </a:hlink>
      <a:folHlink>
        <a:srgbClr val="5A6280"/>
      </a:folHlink>
    </a:clrScheme>
    <a:fontScheme name="AI Sports Academ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Sports Academy – PBL Review 4</dc:title>
  <dc:subject>PptxGenJS Presentation</dc:subject>
  <dc:creator>PptxGenJS</dc:creator>
  <cp:lastModifiedBy>PptxGenJS</cp:lastModifiedBy>
  <cp:revision>1</cp:revision>
  <dcterms:created xsi:type="dcterms:W3CDTF">2026-10-03T15:18:03Z</dcterms:created>
  <dcterms:modified xsi:type="dcterms:W3CDTF">2026-10-03T15:18:03Z</dcterms:modified>
</cp:coreProperties>
</file>